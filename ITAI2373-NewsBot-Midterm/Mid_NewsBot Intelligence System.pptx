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5A1B0-000F-4F78-BA81-8B6684B56E08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466F0E8-C2BC-49F8-9BC6-81301C49BCD0}">
      <dgm:prSet/>
      <dgm:spPr/>
      <dgm:t>
        <a:bodyPr/>
        <a:lstStyle/>
        <a:p>
          <a:r>
            <a:rPr lang="en-US" b="1"/>
            <a:t>Original Text:</a:t>
          </a:r>
          <a:r>
            <a:rPr lang="en-US"/>
            <a:t> “Apple Inc. announced record quarterly earnings today…”</a:t>
          </a:r>
        </a:p>
      </dgm:t>
    </dgm:pt>
    <dgm:pt modelId="{DE45412D-AF14-47F2-B7FA-BC776D4DC901}" type="parTrans" cxnId="{4FB14E4B-6A9B-487D-916B-E69A82B4C4AE}">
      <dgm:prSet/>
      <dgm:spPr/>
      <dgm:t>
        <a:bodyPr/>
        <a:lstStyle/>
        <a:p>
          <a:endParaRPr lang="en-US"/>
        </a:p>
      </dgm:t>
    </dgm:pt>
    <dgm:pt modelId="{E5C7173A-821F-4558-B205-BEB27D69EC3F}" type="sibTrans" cxnId="{4FB14E4B-6A9B-487D-916B-E69A82B4C4AE}">
      <dgm:prSet/>
      <dgm:spPr/>
      <dgm:t>
        <a:bodyPr/>
        <a:lstStyle/>
        <a:p>
          <a:endParaRPr lang="en-US"/>
        </a:p>
      </dgm:t>
    </dgm:pt>
    <dgm:pt modelId="{277032DC-3549-4496-A4EC-2D8AA0E4D396}">
      <dgm:prSet/>
      <dgm:spPr/>
      <dgm:t>
        <a:bodyPr/>
        <a:lstStyle/>
        <a:p>
          <a:r>
            <a:rPr lang="en-US" b="1"/>
            <a:t>Processed Text:</a:t>
          </a:r>
          <a:r>
            <a:rPr lang="en-US"/>
            <a:t> “apple inc announced record quarterly earnings today visit info technews”</a:t>
          </a:r>
        </a:p>
      </dgm:t>
    </dgm:pt>
    <dgm:pt modelId="{6D02EDF4-9A48-4EA3-A63A-897634F87AFD}" type="parTrans" cxnId="{7DF2830F-3776-4E8E-B5DC-37150A919915}">
      <dgm:prSet/>
      <dgm:spPr/>
      <dgm:t>
        <a:bodyPr/>
        <a:lstStyle/>
        <a:p>
          <a:endParaRPr lang="en-US"/>
        </a:p>
      </dgm:t>
    </dgm:pt>
    <dgm:pt modelId="{E7AE9F31-DEB3-4F51-AE1E-D1048737C9B3}" type="sibTrans" cxnId="{7DF2830F-3776-4E8E-B5DC-37150A919915}">
      <dgm:prSet/>
      <dgm:spPr/>
      <dgm:t>
        <a:bodyPr/>
        <a:lstStyle/>
        <a:p>
          <a:endParaRPr lang="en-US"/>
        </a:p>
      </dgm:t>
    </dgm:pt>
    <dgm:pt modelId="{7448E7F6-C5C9-4BDA-9671-CD2DCB758E0D}" type="pres">
      <dgm:prSet presAssocID="{6355A1B0-000F-4F78-BA81-8B6684B56E08}" presName="outerComposite" presStyleCnt="0">
        <dgm:presLayoutVars>
          <dgm:chMax val="5"/>
          <dgm:dir/>
          <dgm:resizeHandles val="exact"/>
        </dgm:presLayoutVars>
      </dgm:prSet>
      <dgm:spPr/>
    </dgm:pt>
    <dgm:pt modelId="{BAC58519-46C2-4C50-B625-944BED471CB9}" type="pres">
      <dgm:prSet presAssocID="{6355A1B0-000F-4F78-BA81-8B6684B56E08}" presName="dummyMaxCanvas" presStyleCnt="0">
        <dgm:presLayoutVars/>
      </dgm:prSet>
      <dgm:spPr/>
    </dgm:pt>
    <dgm:pt modelId="{147C2A54-136C-4DAC-BADF-28ECCC98F703}" type="pres">
      <dgm:prSet presAssocID="{6355A1B0-000F-4F78-BA81-8B6684B56E08}" presName="TwoNodes_1" presStyleLbl="node1" presStyleIdx="0" presStyleCnt="2">
        <dgm:presLayoutVars>
          <dgm:bulletEnabled val="1"/>
        </dgm:presLayoutVars>
      </dgm:prSet>
      <dgm:spPr/>
    </dgm:pt>
    <dgm:pt modelId="{4F7F44C8-EE6B-4D5B-8A08-1E6601A8917C}" type="pres">
      <dgm:prSet presAssocID="{6355A1B0-000F-4F78-BA81-8B6684B56E08}" presName="TwoNodes_2" presStyleLbl="node1" presStyleIdx="1" presStyleCnt="2">
        <dgm:presLayoutVars>
          <dgm:bulletEnabled val="1"/>
        </dgm:presLayoutVars>
      </dgm:prSet>
      <dgm:spPr/>
    </dgm:pt>
    <dgm:pt modelId="{237958F2-8F92-400F-969D-B0B6B86DC379}" type="pres">
      <dgm:prSet presAssocID="{6355A1B0-000F-4F78-BA81-8B6684B56E08}" presName="TwoConn_1-2" presStyleLbl="fgAccFollowNode1" presStyleIdx="0" presStyleCnt="1">
        <dgm:presLayoutVars>
          <dgm:bulletEnabled val="1"/>
        </dgm:presLayoutVars>
      </dgm:prSet>
      <dgm:spPr/>
    </dgm:pt>
    <dgm:pt modelId="{C7BF28B2-273C-44E6-B062-469E825103A7}" type="pres">
      <dgm:prSet presAssocID="{6355A1B0-000F-4F78-BA81-8B6684B56E08}" presName="TwoNodes_1_text" presStyleLbl="node1" presStyleIdx="1" presStyleCnt="2">
        <dgm:presLayoutVars>
          <dgm:bulletEnabled val="1"/>
        </dgm:presLayoutVars>
      </dgm:prSet>
      <dgm:spPr/>
    </dgm:pt>
    <dgm:pt modelId="{114A67F2-DAFB-4545-83BC-C6751BBAA649}" type="pres">
      <dgm:prSet presAssocID="{6355A1B0-000F-4F78-BA81-8B6684B56E08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7DF2830F-3776-4E8E-B5DC-37150A919915}" srcId="{6355A1B0-000F-4F78-BA81-8B6684B56E08}" destId="{277032DC-3549-4496-A4EC-2D8AA0E4D396}" srcOrd="1" destOrd="0" parTransId="{6D02EDF4-9A48-4EA3-A63A-897634F87AFD}" sibTransId="{E7AE9F31-DEB3-4F51-AE1E-D1048737C9B3}"/>
    <dgm:cxn modelId="{4FB14E4B-6A9B-487D-916B-E69A82B4C4AE}" srcId="{6355A1B0-000F-4F78-BA81-8B6684B56E08}" destId="{4466F0E8-C2BC-49F8-9BC6-81301C49BCD0}" srcOrd="0" destOrd="0" parTransId="{DE45412D-AF14-47F2-B7FA-BC776D4DC901}" sibTransId="{E5C7173A-821F-4558-B205-BEB27D69EC3F}"/>
    <dgm:cxn modelId="{C71D6D80-EFBB-40ED-A895-789B9D312AB6}" type="presOf" srcId="{4466F0E8-C2BC-49F8-9BC6-81301C49BCD0}" destId="{C7BF28B2-273C-44E6-B062-469E825103A7}" srcOrd="1" destOrd="0" presId="urn:microsoft.com/office/officeart/2005/8/layout/vProcess5"/>
    <dgm:cxn modelId="{B64A3294-61FB-4590-800E-DC4AEB488B2D}" type="presOf" srcId="{277032DC-3549-4496-A4EC-2D8AA0E4D396}" destId="{114A67F2-DAFB-4545-83BC-C6751BBAA649}" srcOrd="1" destOrd="0" presId="urn:microsoft.com/office/officeart/2005/8/layout/vProcess5"/>
    <dgm:cxn modelId="{FBC47DBC-5678-4ABC-B129-0FA6BCFDE088}" type="presOf" srcId="{6355A1B0-000F-4F78-BA81-8B6684B56E08}" destId="{7448E7F6-C5C9-4BDA-9671-CD2DCB758E0D}" srcOrd="0" destOrd="0" presId="urn:microsoft.com/office/officeart/2005/8/layout/vProcess5"/>
    <dgm:cxn modelId="{8C7E7CEA-6815-4E98-ABBA-A5F5908F3896}" type="presOf" srcId="{277032DC-3549-4496-A4EC-2D8AA0E4D396}" destId="{4F7F44C8-EE6B-4D5B-8A08-1E6601A8917C}" srcOrd="0" destOrd="0" presId="urn:microsoft.com/office/officeart/2005/8/layout/vProcess5"/>
    <dgm:cxn modelId="{732FE3F2-75A4-4940-9667-D097C685F3A5}" type="presOf" srcId="{4466F0E8-C2BC-49F8-9BC6-81301C49BCD0}" destId="{147C2A54-136C-4DAC-BADF-28ECCC98F703}" srcOrd="0" destOrd="0" presId="urn:microsoft.com/office/officeart/2005/8/layout/vProcess5"/>
    <dgm:cxn modelId="{7824F7F6-A047-496D-80B2-143501452B82}" type="presOf" srcId="{E5C7173A-821F-4558-B205-BEB27D69EC3F}" destId="{237958F2-8F92-400F-969D-B0B6B86DC379}" srcOrd="0" destOrd="0" presId="urn:microsoft.com/office/officeart/2005/8/layout/vProcess5"/>
    <dgm:cxn modelId="{530B3C8D-0B75-4DAA-92E9-20349B479E07}" type="presParOf" srcId="{7448E7F6-C5C9-4BDA-9671-CD2DCB758E0D}" destId="{BAC58519-46C2-4C50-B625-944BED471CB9}" srcOrd="0" destOrd="0" presId="urn:microsoft.com/office/officeart/2005/8/layout/vProcess5"/>
    <dgm:cxn modelId="{D23C30F1-FCA0-476D-921B-A03ED858CD9B}" type="presParOf" srcId="{7448E7F6-C5C9-4BDA-9671-CD2DCB758E0D}" destId="{147C2A54-136C-4DAC-BADF-28ECCC98F703}" srcOrd="1" destOrd="0" presId="urn:microsoft.com/office/officeart/2005/8/layout/vProcess5"/>
    <dgm:cxn modelId="{E29E5F14-5F52-4564-B143-D8DB8FC0696E}" type="presParOf" srcId="{7448E7F6-C5C9-4BDA-9671-CD2DCB758E0D}" destId="{4F7F44C8-EE6B-4D5B-8A08-1E6601A8917C}" srcOrd="2" destOrd="0" presId="urn:microsoft.com/office/officeart/2005/8/layout/vProcess5"/>
    <dgm:cxn modelId="{DE6F98F3-827D-4DEE-AA59-BB0DB6537E11}" type="presParOf" srcId="{7448E7F6-C5C9-4BDA-9671-CD2DCB758E0D}" destId="{237958F2-8F92-400F-969D-B0B6B86DC379}" srcOrd="3" destOrd="0" presId="urn:microsoft.com/office/officeart/2005/8/layout/vProcess5"/>
    <dgm:cxn modelId="{CBDC86FA-35FA-49A8-AF1C-9F0E8537F84B}" type="presParOf" srcId="{7448E7F6-C5C9-4BDA-9671-CD2DCB758E0D}" destId="{C7BF28B2-273C-44E6-B062-469E825103A7}" srcOrd="4" destOrd="0" presId="urn:microsoft.com/office/officeart/2005/8/layout/vProcess5"/>
    <dgm:cxn modelId="{EF26A966-B13F-43FE-82AB-43F61762C728}" type="presParOf" srcId="{7448E7F6-C5C9-4BDA-9671-CD2DCB758E0D}" destId="{114A67F2-DAFB-4545-83BC-C6751BBAA649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F47447-7CC8-4AE2-BBCC-55415BD3201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5A76D91-9528-4313-A159-278F3C576777}">
      <dgm:prSet/>
      <dgm:spPr/>
      <dgm:t>
        <a:bodyPr/>
        <a:lstStyle/>
        <a:p>
          <a:r>
            <a:rPr lang="en-US" b="1"/>
            <a:t>Examples</a:t>
          </a:r>
          <a:endParaRPr lang="en-US"/>
        </a:p>
      </dgm:t>
    </dgm:pt>
    <dgm:pt modelId="{F4DD642A-726C-48F2-ACC7-469E5E70BB80}" type="parTrans" cxnId="{773FB1E5-919A-45AF-A25A-A6CB93A3757B}">
      <dgm:prSet/>
      <dgm:spPr/>
      <dgm:t>
        <a:bodyPr/>
        <a:lstStyle/>
        <a:p>
          <a:endParaRPr lang="en-US"/>
        </a:p>
      </dgm:t>
    </dgm:pt>
    <dgm:pt modelId="{ED5877C4-57A5-4433-953A-D626C47B92D2}" type="sibTrans" cxnId="{773FB1E5-919A-45AF-A25A-A6CB93A3757B}">
      <dgm:prSet/>
      <dgm:spPr/>
      <dgm:t>
        <a:bodyPr/>
        <a:lstStyle/>
        <a:p>
          <a:endParaRPr lang="en-US"/>
        </a:p>
      </dgm:t>
    </dgm:pt>
    <dgm:pt modelId="{C69AB0B1-EAF5-4528-9477-DEFF62451135}">
      <dgm:prSet/>
      <dgm:spPr/>
      <dgm:t>
        <a:bodyPr/>
        <a:lstStyle/>
        <a:p>
          <a:r>
            <a:rPr lang="en-US" b="1"/>
            <a:t>Business:</a:t>
          </a:r>
          <a:r>
            <a:rPr lang="en-US"/>
            <a:t> growth, strong</a:t>
          </a:r>
        </a:p>
      </dgm:t>
    </dgm:pt>
    <dgm:pt modelId="{EEE75FBD-A28C-4B52-A2DC-7A14A32C2152}" type="parTrans" cxnId="{188F8BAF-7ED2-4A11-816A-DC4984D2F80B}">
      <dgm:prSet/>
      <dgm:spPr/>
      <dgm:t>
        <a:bodyPr/>
        <a:lstStyle/>
        <a:p>
          <a:endParaRPr lang="en-US"/>
        </a:p>
      </dgm:t>
    </dgm:pt>
    <dgm:pt modelId="{B9BA35AB-D92C-4C7C-9E41-1AC51572227B}" type="sibTrans" cxnId="{188F8BAF-7ED2-4A11-816A-DC4984D2F80B}">
      <dgm:prSet/>
      <dgm:spPr/>
      <dgm:t>
        <a:bodyPr/>
        <a:lstStyle/>
        <a:p>
          <a:endParaRPr lang="en-US"/>
        </a:p>
      </dgm:t>
    </dgm:pt>
    <dgm:pt modelId="{A4FC71DB-8C98-41AA-99FA-F43D43438B28}">
      <dgm:prSet/>
      <dgm:spPr/>
      <dgm:t>
        <a:bodyPr/>
        <a:lstStyle/>
        <a:p>
          <a:r>
            <a:rPr lang="en-US" b="1"/>
            <a:t>Technology:</a:t>
          </a:r>
          <a:r>
            <a:rPr lang="en-US"/>
            <a:t> new, promise</a:t>
          </a:r>
        </a:p>
      </dgm:t>
    </dgm:pt>
    <dgm:pt modelId="{7CD250C9-5E74-40C9-BFA0-83C3AC6C0216}" type="parTrans" cxnId="{B8CC2627-BD70-4F38-A656-125B82036DDD}">
      <dgm:prSet/>
      <dgm:spPr/>
      <dgm:t>
        <a:bodyPr/>
        <a:lstStyle/>
        <a:p>
          <a:endParaRPr lang="en-US"/>
        </a:p>
      </dgm:t>
    </dgm:pt>
    <dgm:pt modelId="{0333779E-AE53-4446-A72F-47F7E493704B}" type="sibTrans" cxnId="{B8CC2627-BD70-4F38-A656-125B82036DDD}">
      <dgm:prSet/>
      <dgm:spPr/>
      <dgm:t>
        <a:bodyPr/>
        <a:lstStyle/>
        <a:p>
          <a:endParaRPr lang="en-US"/>
        </a:p>
      </dgm:t>
    </dgm:pt>
    <dgm:pt modelId="{8A285E58-3F72-4567-9146-586ED2AE2C28}">
      <dgm:prSet/>
      <dgm:spPr/>
      <dgm:t>
        <a:bodyPr/>
        <a:lstStyle/>
        <a:p>
          <a:r>
            <a:rPr lang="en-US" b="1"/>
            <a:t>Entertainment:</a:t>
          </a:r>
          <a:r>
            <a:rPr lang="en-US"/>
            <a:t> new, growth</a:t>
          </a:r>
        </a:p>
      </dgm:t>
    </dgm:pt>
    <dgm:pt modelId="{68A53784-3126-4059-928D-20D3CA2BC913}" type="parTrans" cxnId="{0ED94FB8-DE4B-488D-8AD2-ADBA5B8DEBC4}">
      <dgm:prSet/>
      <dgm:spPr/>
      <dgm:t>
        <a:bodyPr/>
        <a:lstStyle/>
        <a:p>
          <a:endParaRPr lang="en-US"/>
        </a:p>
      </dgm:t>
    </dgm:pt>
    <dgm:pt modelId="{38FB723E-FFF3-484D-860F-AC3AAD70F742}" type="sibTrans" cxnId="{0ED94FB8-DE4B-488D-8AD2-ADBA5B8DEBC4}">
      <dgm:prSet/>
      <dgm:spPr/>
      <dgm:t>
        <a:bodyPr/>
        <a:lstStyle/>
        <a:p>
          <a:endParaRPr lang="en-US"/>
        </a:p>
      </dgm:t>
    </dgm:pt>
    <dgm:pt modelId="{E681D69F-24DC-4613-AD24-3F1F9CF0DA3A}" type="pres">
      <dgm:prSet presAssocID="{B9F47447-7CC8-4AE2-BBCC-55415BD32011}" presName="linear" presStyleCnt="0">
        <dgm:presLayoutVars>
          <dgm:animLvl val="lvl"/>
          <dgm:resizeHandles val="exact"/>
        </dgm:presLayoutVars>
      </dgm:prSet>
      <dgm:spPr/>
    </dgm:pt>
    <dgm:pt modelId="{C7CB5CC3-7E33-404F-9960-92B5DB0107D9}" type="pres">
      <dgm:prSet presAssocID="{D5A76D91-9528-4313-A159-278F3C57677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5F44991-7EC1-487F-9B09-3B8333384DB5}" type="pres">
      <dgm:prSet presAssocID="{D5A76D91-9528-4313-A159-278F3C57677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8CC2627-BD70-4F38-A656-125B82036DDD}" srcId="{D5A76D91-9528-4313-A159-278F3C576777}" destId="{A4FC71DB-8C98-41AA-99FA-F43D43438B28}" srcOrd="1" destOrd="0" parTransId="{7CD250C9-5E74-40C9-BFA0-83C3AC6C0216}" sibTransId="{0333779E-AE53-4446-A72F-47F7E493704B}"/>
    <dgm:cxn modelId="{2DF8273E-E73B-4C8C-93AF-16FF6C927081}" type="presOf" srcId="{D5A76D91-9528-4313-A159-278F3C576777}" destId="{C7CB5CC3-7E33-404F-9960-92B5DB0107D9}" srcOrd="0" destOrd="0" presId="urn:microsoft.com/office/officeart/2005/8/layout/vList2"/>
    <dgm:cxn modelId="{46468E54-1535-412B-9787-81680C38963B}" type="presOf" srcId="{A4FC71DB-8C98-41AA-99FA-F43D43438B28}" destId="{F5F44991-7EC1-487F-9B09-3B8333384DB5}" srcOrd="0" destOrd="1" presId="urn:microsoft.com/office/officeart/2005/8/layout/vList2"/>
    <dgm:cxn modelId="{C34BC08F-B215-4B3C-9D79-C1ADA72FC9AE}" type="presOf" srcId="{B9F47447-7CC8-4AE2-BBCC-55415BD32011}" destId="{E681D69F-24DC-4613-AD24-3F1F9CF0DA3A}" srcOrd="0" destOrd="0" presId="urn:microsoft.com/office/officeart/2005/8/layout/vList2"/>
    <dgm:cxn modelId="{3738AEA1-38FE-42A4-BD69-490E0FFFC408}" type="presOf" srcId="{8A285E58-3F72-4567-9146-586ED2AE2C28}" destId="{F5F44991-7EC1-487F-9B09-3B8333384DB5}" srcOrd="0" destOrd="2" presId="urn:microsoft.com/office/officeart/2005/8/layout/vList2"/>
    <dgm:cxn modelId="{188F8BAF-7ED2-4A11-816A-DC4984D2F80B}" srcId="{D5A76D91-9528-4313-A159-278F3C576777}" destId="{C69AB0B1-EAF5-4528-9477-DEFF62451135}" srcOrd="0" destOrd="0" parTransId="{EEE75FBD-A28C-4B52-A2DC-7A14A32C2152}" sibTransId="{B9BA35AB-D92C-4C7C-9E41-1AC51572227B}"/>
    <dgm:cxn modelId="{0ED94FB8-DE4B-488D-8AD2-ADBA5B8DEBC4}" srcId="{D5A76D91-9528-4313-A159-278F3C576777}" destId="{8A285E58-3F72-4567-9146-586ED2AE2C28}" srcOrd="2" destOrd="0" parTransId="{68A53784-3126-4059-928D-20D3CA2BC913}" sibTransId="{38FB723E-FFF3-484D-860F-AC3AAD70F742}"/>
    <dgm:cxn modelId="{92A99DBF-5B65-4552-83C7-EAD27EA93DEC}" type="presOf" srcId="{C69AB0B1-EAF5-4528-9477-DEFF62451135}" destId="{F5F44991-7EC1-487F-9B09-3B8333384DB5}" srcOrd="0" destOrd="0" presId="urn:microsoft.com/office/officeart/2005/8/layout/vList2"/>
    <dgm:cxn modelId="{773FB1E5-919A-45AF-A25A-A6CB93A3757B}" srcId="{B9F47447-7CC8-4AE2-BBCC-55415BD32011}" destId="{D5A76D91-9528-4313-A159-278F3C576777}" srcOrd="0" destOrd="0" parTransId="{F4DD642A-726C-48F2-ACC7-469E5E70BB80}" sibTransId="{ED5877C4-57A5-4433-953A-D626C47B92D2}"/>
    <dgm:cxn modelId="{1032ABA2-E99E-4AC9-B785-4FC40BC46ED4}" type="presParOf" srcId="{E681D69F-24DC-4613-AD24-3F1F9CF0DA3A}" destId="{C7CB5CC3-7E33-404F-9960-92B5DB0107D9}" srcOrd="0" destOrd="0" presId="urn:microsoft.com/office/officeart/2005/8/layout/vList2"/>
    <dgm:cxn modelId="{D10DC405-A2ED-42F6-B8A4-E1421DE02AD1}" type="presParOf" srcId="{E681D69F-24DC-4613-AD24-3F1F9CF0DA3A}" destId="{F5F44991-7EC1-487F-9B09-3B8333384DB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C2A54-136C-4DAC-BADF-28ECCC98F703}">
      <dsp:nvSpPr>
        <dsp:cNvPr id="0" name=""/>
        <dsp:cNvSpPr/>
      </dsp:nvSpPr>
      <dsp:spPr>
        <a:xfrm>
          <a:off x="0" y="0"/>
          <a:ext cx="4772738" cy="21481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Original Text:</a:t>
          </a:r>
          <a:r>
            <a:rPr lang="en-US" sz="1900" kern="1200"/>
            <a:t> “Apple Inc. announced record quarterly earnings today…”</a:t>
          </a:r>
        </a:p>
      </dsp:txBody>
      <dsp:txXfrm>
        <a:off x="62916" y="62916"/>
        <a:ext cx="2552484" cy="2022293"/>
      </dsp:txXfrm>
    </dsp:sp>
    <dsp:sp modelId="{4F7F44C8-EE6B-4D5B-8A08-1E6601A8917C}">
      <dsp:nvSpPr>
        <dsp:cNvPr id="0" name=""/>
        <dsp:cNvSpPr/>
      </dsp:nvSpPr>
      <dsp:spPr>
        <a:xfrm>
          <a:off x="842248" y="2625487"/>
          <a:ext cx="4772738" cy="214812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Processed Text:</a:t>
          </a:r>
          <a:r>
            <a:rPr lang="en-US" sz="1900" kern="1200"/>
            <a:t> “apple inc announced record quarterly earnings today visit info technews”</a:t>
          </a:r>
        </a:p>
      </dsp:txBody>
      <dsp:txXfrm>
        <a:off x="905164" y="2688403"/>
        <a:ext cx="2408377" cy="2022293"/>
      </dsp:txXfrm>
    </dsp:sp>
    <dsp:sp modelId="{237958F2-8F92-400F-969D-B0B6B86DC379}">
      <dsp:nvSpPr>
        <dsp:cNvPr id="0" name=""/>
        <dsp:cNvSpPr/>
      </dsp:nvSpPr>
      <dsp:spPr>
        <a:xfrm>
          <a:off x="3376457" y="1688665"/>
          <a:ext cx="1396281" cy="139628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690620" y="1688665"/>
        <a:ext cx="767955" cy="10507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CB5CC3-7E33-404F-9960-92B5DB0107D9}">
      <dsp:nvSpPr>
        <dsp:cNvPr id="0" name=""/>
        <dsp:cNvSpPr/>
      </dsp:nvSpPr>
      <dsp:spPr>
        <a:xfrm>
          <a:off x="0" y="72366"/>
          <a:ext cx="5614987" cy="11512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/>
            <a:t>Examples</a:t>
          </a:r>
          <a:endParaRPr lang="en-US" sz="4800" kern="1200"/>
        </a:p>
      </dsp:txBody>
      <dsp:txXfrm>
        <a:off x="56201" y="128567"/>
        <a:ext cx="5502585" cy="1038877"/>
      </dsp:txXfrm>
    </dsp:sp>
    <dsp:sp modelId="{F5F44991-7EC1-487F-9B09-3B8333384DB5}">
      <dsp:nvSpPr>
        <dsp:cNvPr id="0" name=""/>
        <dsp:cNvSpPr/>
      </dsp:nvSpPr>
      <dsp:spPr>
        <a:xfrm>
          <a:off x="0" y="1223646"/>
          <a:ext cx="5614987" cy="3477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76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b="1" kern="1200"/>
            <a:t>Business:</a:t>
          </a:r>
          <a:r>
            <a:rPr lang="en-US" sz="3700" kern="1200"/>
            <a:t> growth, strong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b="1" kern="1200"/>
            <a:t>Technology:</a:t>
          </a:r>
          <a:r>
            <a:rPr lang="en-US" sz="3700" kern="1200"/>
            <a:t> new, promise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b="1" kern="1200"/>
            <a:t>Entertainment:</a:t>
          </a:r>
          <a:r>
            <a:rPr lang="en-US" sz="3700" kern="1200"/>
            <a:t> new, growth</a:t>
          </a:r>
        </a:p>
      </dsp:txBody>
      <dsp:txXfrm>
        <a:off x="0" y="1223646"/>
        <a:ext cx="5614987" cy="3477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DFA45-D940-44E4-9BA4-7D369C92260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04810-0D46-4359-9B24-E4570B6E6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73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Explain that the system follows a complete NLP workflow.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04810-0D46-4359-9B24-E4570B6E62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85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how organizations use NLP to understand public sentiment and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04810-0D46-4359-9B24-E4570B6E62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12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this is a sample dataset but the pipeline is 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04810-0D46-4359-9B24-E4570B6E62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0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balanced categories help avoid model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04810-0D46-4359-9B24-E4570B6E62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08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Preprocessing improves model accuracy and reduces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04810-0D46-4359-9B24-E4570B6E62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79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text becomes standardized and machine‑friendly.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04810-0D46-4359-9B24-E4570B6E62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32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TF‑IDF identifies important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04810-0D46-4359-9B24-E4570B6E62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47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how different categories emphasize different keywords.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04810-0D46-4359-9B24-E4570B6E62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84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visuals help stakeholders quickly understand topic emphasis.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04810-0D46-4359-9B24-E4570B6E62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390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 tagging reveals writing style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04810-0D46-4359-9B24-E4570B6E62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16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grammar varies by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04810-0D46-4359-9B24-E4570B6E62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02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Sentiment helps understand public perception of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04810-0D46-4359-9B24-E4570B6E62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288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NLP outputs to real business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04810-0D46-4359-9B24-E4570B6E62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83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project and highlight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04810-0D46-4359-9B24-E4570B6E62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71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672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7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8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02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78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59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3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8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3637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3661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842308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5030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3626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103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86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37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81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3185B-B4E9-0D33-8F03-BF31875EE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0837" y="1325880"/>
            <a:ext cx="3543464" cy="3066507"/>
          </a:xfrm>
        </p:spPr>
        <p:txBody>
          <a:bodyPr>
            <a:normAutofit/>
          </a:bodyPr>
          <a:lstStyle/>
          <a:p>
            <a:r>
              <a:rPr lang="en-US" sz="4400" dirty="0" err="1">
                <a:solidFill>
                  <a:srgbClr val="EBEBEB"/>
                </a:solidFill>
              </a:rPr>
              <a:t>NewsBot</a:t>
            </a:r>
            <a:r>
              <a:rPr lang="en-US" sz="4400" dirty="0">
                <a:solidFill>
                  <a:srgbClr val="EBEBEB"/>
                </a:solidFill>
              </a:rPr>
              <a:t> Intelligence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E0FAC5-6BFE-D2FD-CA0D-8F2749766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3137" y="4588329"/>
            <a:ext cx="3571163" cy="1621508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chemeClr val="tx2">
                    <a:lumMod val="40000"/>
                    <a:lumOff val="60000"/>
                  </a:schemeClr>
                </a:solidFill>
              </a:rPr>
              <a:t>ITAI 2373 – Midterm Project </a:t>
            </a:r>
          </a:p>
          <a:p>
            <a:r>
              <a:rPr lang="en-US" sz="1800">
                <a:solidFill>
                  <a:schemeClr val="tx2">
                    <a:lumMod val="40000"/>
                    <a:lumOff val="60000"/>
                  </a:schemeClr>
                </a:solidFill>
              </a:rPr>
              <a:t>Lufei Yu &amp; Richard Cortez </a:t>
            </a:r>
          </a:p>
          <a:p>
            <a:r>
              <a:rPr lang="en-US" sz="1800">
                <a:solidFill>
                  <a:schemeClr val="tx2">
                    <a:lumMod val="40000"/>
                    <a:lumOff val="60000"/>
                  </a:schemeClr>
                </a:solidFill>
              </a:rPr>
              <a:t>April 1, 2026</a:t>
            </a:r>
          </a:p>
        </p:txBody>
      </p:sp>
      <p:sp>
        <p:nvSpPr>
          <p:cNvPr id="11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13666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eople in hi-tech suites">
            <a:extLst>
              <a:ext uri="{FF2B5EF4-FFF2-40B4-BE49-F238E27FC236}">
                <a16:creationId xmlns:a16="http://schemas.microsoft.com/office/drawing/2014/main" id="{BBFE3EE0-C285-6C70-0E65-C2A0DEC1A0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36" r="12234" b="-1"/>
          <a:stretch>
            <a:fillRect/>
          </a:stretch>
        </p:blipFill>
        <p:spPr>
          <a:xfrm>
            <a:off x="20" y="10"/>
            <a:ext cx="7759920" cy="6857991"/>
          </a:xfrm>
          <a:custGeom>
            <a:avLst/>
            <a:gdLst/>
            <a:ahLst/>
            <a:cxnLst/>
            <a:rect l="l" t="t" r="r" b="b"/>
            <a:pathLst>
              <a:path w="7759940" h="6858001">
                <a:moveTo>
                  <a:pt x="0" y="0"/>
                </a:moveTo>
                <a:lnTo>
                  <a:pt x="1296537" y="0"/>
                </a:lnTo>
                <a:lnTo>
                  <a:pt x="1296537" y="1"/>
                </a:lnTo>
                <a:lnTo>
                  <a:pt x="6415225" y="1"/>
                </a:lnTo>
                <a:lnTo>
                  <a:pt x="6415225" y="0"/>
                </a:lnTo>
                <a:lnTo>
                  <a:pt x="7758763" y="0"/>
                </a:lnTo>
                <a:lnTo>
                  <a:pt x="7733718" y="155677"/>
                </a:lnTo>
                <a:lnTo>
                  <a:pt x="7709849" y="310668"/>
                </a:lnTo>
                <a:lnTo>
                  <a:pt x="7686485" y="466344"/>
                </a:lnTo>
                <a:lnTo>
                  <a:pt x="7666482" y="622707"/>
                </a:lnTo>
                <a:lnTo>
                  <a:pt x="7646311" y="778383"/>
                </a:lnTo>
                <a:lnTo>
                  <a:pt x="7627485" y="934746"/>
                </a:lnTo>
                <a:lnTo>
                  <a:pt x="7611349" y="1089051"/>
                </a:lnTo>
                <a:lnTo>
                  <a:pt x="7596053" y="1245413"/>
                </a:lnTo>
                <a:lnTo>
                  <a:pt x="7582101" y="1401090"/>
                </a:lnTo>
                <a:lnTo>
                  <a:pt x="7569999" y="1554023"/>
                </a:lnTo>
                <a:lnTo>
                  <a:pt x="7557896" y="1709014"/>
                </a:lnTo>
                <a:lnTo>
                  <a:pt x="7547811" y="1861947"/>
                </a:lnTo>
                <a:lnTo>
                  <a:pt x="7539911" y="2014881"/>
                </a:lnTo>
                <a:lnTo>
                  <a:pt x="7531674" y="2167128"/>
                </a:lnTo>
                <a:lnTo>
                  <a:pt x="7524783" y="2318004"/>
                </a:lnTo>
                <a:lnTo>
                  <a:pt x="7519908" y="2467509"/>
                </a:lnTo>
                <a:lnTo>
                  <a:pt x="7515706" y="2617013"/>
                </a:lnTo>
                <a:lnTo>
                  <a:pt x="7511672" y="2765146"/>
                </a:lnTo>
                <a:lnTo>
                  <a:pt x="7509823" y="2911221"/>
                </a:lnTo>
                <a:lnTo>
                  <a:pt x="7507806" y="3057297"/>
                </a:lnTo>
                <a:lnTo>
                  <a:pt x="7506797" y="3201315"/>
                </a:lnTo>
                <a:lnTo>
                  <a:pt x="7507806" y="3343961"/>
                </a:lnTo>
                <a:lnTo>
                  <a:pt x="7507806" y="3485236"/>
                </a:lnTo>
                <a:lnTo>
                  <a:pt x="7509823" y="3625139"/>
                </a:lnTo>
                <a:lnTo>
                  <a:pt x="7512848" y="3762299"/>
                </a:lnTo>
                <a:lnTo>
                  <a:pt x="7515706" y="3898087"/>
                </a:lnTo>
                <a:lnTo>
                  <a:pt x="7518900" y="4031133"/>
                </a:lnTo>
                <a:lnTo>
                  <a:pt x="7523774" y="4163492"/>
                </a:lnTo>
                <a:lnTo>
                  <a:pt x="7528985" y="4293793"/>
                </a:lnTo>
                <a:lnTo>
                  <a:pt x="7533691" y="4421352"/>
                </a:lnTo>
                <a:lnTo>
                  <a:pt x="7546971" y="4670298"/>
                </a:lnTo>
                <a:lnTo>
                  <a:pt x="7561090" y="4908956"/>
                </a:lnTo>
                <a:lnTo>
                  <a:pt x="7575882" y="5138013"/>
                </a:lnTo>
                <a:lnTo>
                  <a:pt x="7592187" y="5354726"/>
                </a:lnTo>
                <a:lnTo>
                  <a:pt x="7609164" y="5561838"/>
                </a:lnTo>
                <a:lnTo>
                  <a:pt x="7627485" y="5753862"/>
                </a:lnTo>
                <a:lnTo>
                  <a:pt x="7645471" y="5934227"/>
                </a:lnTo>
                <a:lnTo>
                  <a:pt x="7663456" y="6100191"/>
                </a:lnTo>
                <a:lnTo>
                  <a:pt x="7680433" y="6252438"/>
                </a:lnTo>
                <a:lnTo>
                  <a:pt x="7696570" y="6387541"/>
                </a:lnTo>
                <a:lnTo>
                  <a:pt x="7711866" y="6509613"/>
                </a:lnTo>
                <a:lnTo>
                  <a:pt x="7724641" y="6612483"/>
                </a:lnTo>
                <a:lnTo>
                  <a:pt x="7736743" y="6698894"/>
                </a:lnTo>
                <a:lnTo>
                  <a:pt x="7754057" y="6817538"/>
                </a:lnTo>
                <a:lnTo>
                  <a:pt x="7759940" y="6858000"/>
                </a:lnTo>
                <a:lnTo>
                  <a:pt x="6854586" y="6858000"/>
                </a:lnTo>
                <a:lnTo>
                  <a:pt x="6854586" y="6858001"/>
                </a:lnTo>
                <a:lnTo>
                  <a:pt x="764022" y="6858001"/>
                </a:lnTo>
                <a:lnTo>
                  <a:pt x="76402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50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860B14-E231-C9CA-8700-DEFBE0F7F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7112A-F2C3-0E6F-AFB8-F6AD88BFF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FFFFFF"/>
                </a:solidFill>
              </a:rPr>
              <a:t>What Our System Does</a:t>
            </a:r>
            <a:endParaRPr lang="en-US">
              <a:solidFill>
                <a:srgbClr val="FFFFFF"/>
              </a:solidFill>
            </a:endParaRPr>
          </a:p>
          <a:p>
            <a:r>
              <a:rPr lang="en-US">
                <a:solidFill>
                  <a:srgbClr val="FFFFFF"/>
                </a:solidFill>
              </a:rPr>
              <a:t>Cleans and preprocesses raw news text</a:t>
            </a:r>
          </a:p>
          <a:p>
            <a:r>
              <a:rPr lang="en-US">
                <a:solidFill>
                  <a:srgbClr val="FFFFFF"/>
                </a:solidFill>
              </a:rPr>
              <a:t>Extracts TF‑IDF features</a:t>
            </a:r>
          </a:p>
          <a:p>
            <a:r>
              <a:rPr lang="en-US">
                <a:solidFill>
                  <a:srgbClr val="FFFFFF"/>
                </a:solidFill>
              </a:rPr>
              <a:t>Performs POS tagging</a:t>
            </a:r>
          </a:p>
          <a:p>
            <a:r>
              <a:rPr lang="en-US">
                <a:solidFill>
                  <a:srgbClr val="FFFFFF"/>
                </a:solidFill>
              </a:rPr>
              <a:t>Conducts sentiment &amp; emotion analysis</a:t>
            </a:r>
          </a:p>
          <a:p>
            <a:r>
              <a:rPr lang="en-US">
                <a:solidFill>
                  <a:srgbClr val="FFFFFF"/>
                </a:solidFill>
              </a:rPr>
              <a:t>Supports classification</a:t>
            </a:r>
          </a:p>
          <a:p>
            <a:r>
              <a:rPr lang="en-US">
                <a:solidFill>
                  <a:srgbClr val="FFFFFF"/>
                </a:solidFill>
              </a:rPr>
              <a:t>Generates business intelligence insights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78A19-FED8-6162-4968-7FE19F6D68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9" r="50443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14220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B0A25-B66A-4834-311C-566D146A2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Real‑World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CDDD3-D379-CED9-E85D-8044C3660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Industries &amp; Use Cases</a:t>
            </a:r>
            <a:endParaRPr lang="en-US" dirty="0"/>
          </a:p>
          <a:p>
            <a:r>
              <a:rPr lang="en-US" dirty="0"/>
              <a:t>Media monitoring</a:t>
            </a:r>
          </a:p>
          <a:p>
            <a:r>
              <a:rPr lang="en-US" dirty="0"/>
              <a:t>Business intelligence</a:t>
            </a:r>
          </a:p>
          <a:p>
            <a:r>
              <a:rPr lang="en-US" dirty="0"/>
              <a:t>Market research</a:t>
            </a:r>
          </a:p>
          <a:p>
            <a:r>
              <a:rPr lang="en-US" dirty="0"/>
              <a:t>Content management</a:t>
            </a:r>
          </a:p>
          <a:p>
            <a:r>
              <a:rPr lang="en-US" dirty="0"/>
              <a:t>Crisis detection</a:t>
            </a:r>
          </a:p>
          <a:p>
            <a:r>
              <a:rPr lang="en-US" dirty="0"/>
              <a:t>Brand reputation tracking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478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CA99B6-B44B-0C0B-5FCD-7CFE059F4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FA08B-972C-F98A-8B44-D883192B3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Dataset Summary</a:t>
            </a:r>
            <a:endParaRPr lang="en-US" dirty="0"/>
          </a:p>
          <a:p>
            <a:r>
              <a:rPr lang="en-US" dirty="0"/>
              <a:t>Total articles: 10</a:t>
            </a:r>
          </a:p>
          <a:p>
            <a:r>
              <a:rPr lang="en-US" dirty="0"/>
              <a:t>Categories: 5</a:t>
            </a:r>
          </a:p>
          <a:p>
            <a:r>
              <a:rPr lang="en-US" dirty="0"/>
              <a:t>Balanced distribution</a:t>
            </a:r>
          </a:p>
          <a:p>
            <a:r>
              <a:rPr lang="en-US" dirty="0"/>
              <a:t>Unique sources: 10</a:t>
            </a:r>
          </a:p>
          <a:p>
            <a:r>
              <a:rPr lang="en-US" dirty="0"/>
              <a:t>Date range: 2024‑01‑15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471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E35308-EDE4-F0E1-F343-23119F967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Category Distribution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57C99C-20C9-9373-0D46-58613CB6F2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661838"/>
            <a:ext cx="6270662" cy="553385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56430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92048-36E5-307D-B005-C8872A660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 sz="3600" b="1">
                <a:solidFill>
                  <a:srgbClr val="FFFFFF"/>
                </a:solidFill>
              </a:rPr>
              <a:t>Text Preprocessing Pipeline</a:t>
            </a:r>
            <a:br>
              <a:rPr lang="en-US" sz="3600" b="1">
                <a:solidFill>
                  <a:srgbClr val="FFFFFF"/>
                </a:solidFill>
              </a:rPr>
            </a:b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8DF0F-BC4C-020D-CA1B-3982940AF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r>
              <a:rPr lang="en-US" b="1" dirty="0"/>
              <a:t>Steps Implemented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HTML removal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URL &amp; email removal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Lowercasing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Special character filtering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Tokenization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Stopword</a:t>
            </a:r>
            <a:r>
              <a:rPr lang="en-US" dirty="0"/>
              <a:t> removal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Lemmatization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Short‑word filtering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720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75096F-6C5C-BA2F-F267-0712C5F4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rgbClr val="F2F2F2"/>
                </a:solidFill>
              </a:rPr>
              <a:t>Before &amp; After Example</a:t>
            </a:r>
            <a:br>
              <a:rPr lang="en-US" b="1">
                <a:solidFill>
                  <a:srgbClr val="F2F2F2"/>
                </a:solidFill>
              </a:rPr>
            </a:br>
            <a:endParaRPr lang="en-US">
              <a:solidFill>
                <a:srgbClr val="F2F2F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958C1B11-C7DE-15E8-A253-53A81FD80E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781011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78056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9360C-0B71-DD1E-74FD-8F7D242E6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TF‑IDF 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9A734-69CA-D4F2-0C0E-746D3CA2C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Vectorizer Settings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max_features</a:t>
            </a:r>
            <a:r>
              <a:rPr lang="en-US" dirty="0"/>
              <a:t> = 5000</a:t>
            </a:r>
          </a:p>
          <a:p>
            <a:pPr marL="0" indent="0">
              <a:buNone/>
            </a:pPr>
            <a:r>
              <a:rPr lang="en-US" dirty="0" err="1"/>
              <a:t>ngram_range</a:t>
            </a:r>
            <a:r>
              <a:rPr lang="en-US" dirty="0"/>
              <a:t> = (1,2)</a:t>
            </a:r>
          </a:p>
          <a:p>
            <a:pPr marL="0" indent="0">
              <a:buNone/>
            </a:pPr>
            <a:r>
              <a:rPr lang="en-US" dirty="0" err="1"/>
              <a:t>min_df</a:t>
            </a:r>
            <a:r>
              <a:rPr lang="en-US" dirty="0"/>
              <a:t> = 2</a:t>
            </a:r>
          </a:p>
          <a:p>
            <a:pPr marL="0" indent="0">
              <a:buNone/>
            </a:pPr>
            <a:r>
              <a:rPr lang="en-US" dirty="0" err="1"/>
              <a:t>max_df</a:t>
            </a:r>
            <a:r>
              <a:rPr lang="en-US" dirty="0"/>
              <a:t> = 0.8</a:t>
            </a:r>
          </a:p>
          <a:p>
            <a:r>
              <a:rPr lang="en-US" b="1" dirty="0"/>
              <a:t>Results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Matrix shape: 10 × 4</a:t>
            </a:r>
          </a:p>
          <a:p>
            <a:pPr marL="0" indent="0">
              <a:buNone/>
            </a:pPr>
            <a:r>
              <a:rPr lang="en-US" dirty="0"/>
              <a:t>Vocabulary size: 4</a:t>
            </a:r>
          </a:p>
          <a:p>
            <a:pPr marL="0" indent="0">
              <a:buNone/>
            </a:pPr>
            <a:r>
              <a:rPr lang="en-US" dirty="0"/>
              <a:t>Sparsity: 77.5%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931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3C1934-1F28-3B1B-73EA-83B706C63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2F2F2"/>
                </a:solidFill>
              </a:rPr>
              <a:t>Top TF‑IDF Terms by Category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B42ABE-ACD6-3DF4-91AD-1F67441CC6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5167244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9331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98E309-88C6-4A0C-7017-942884105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 b="1">
                <a:solidFill>
                  <a:srgbClr val="FFFFFF"/>
                </a:solidFill>
              </a:rPr>
              <a:t>TF‑IDF Visuals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07DF1DD-6C79-0BF9-41E4-2C576AFAF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Recommended Visuals</a:t>
            </a:r>
            <a:endParaRPr lang="en-US" sz="2800" dirty="0"/>
          </a:p>
          <a:p>
            <a:r>
              <a:rPr lang="en-US" sz="2800" dirty="0"/>
              <a:t>Word clouds</a:t>
            </a:r>
          </a:p>
          <a:p>
            <a:r>
              <a:rPr lang="en-US" sz="2800" dirty="0"/>
              <a:t>Bar charts</a:t>
            </a:r>
          </a:p>
          <a:p>
            <a:r>
              <a:rPr lang="en-US" sz="2800" dirty="0"/>
              <a:t>Heatmap of term importance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749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A9CE61-52F7-64EC-4C4D-E05420A5E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POS Tagging &amp; Grammar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605FA-31D1-54B3-FD2A-A0006C904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What We Analyzed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Nouns</a:t>
            </a:r>
          </a:p>
          <a:p>
            <a:r>
              <a:rPr lang="en-US" dirty="0">
                <a:solidFill>
                  <a:srgbClr val="FFFFFF"/>
                </a:solidFill>
              </a:rPr>
              <a:t>Verbs</a:t>
            </a:r>
          </a:p>
          <a:p>
            <a:r>
              <a:rPr lang="en-US" dirty="0">
                <a:solidFill>
                  <a:srgbClr val="FFFFFF"/>
                </a:solidFill>
              </a:rPr>
              <a:t>Adjectives</a:t>
            </a:r>
          </a:p>
          <a:p>
            <a:r>
              <a:rPr lang="en-US" dirty="0">
                <a:solidFill>
                  <a:srgbClr val="FFFFFF"/>
                </a:solidFill>
              </a:rPr>
              <a:t>Adverbs</a:t>
            </a:r>
          </a:p>
          <a:p>
            <a:r>
              <a:rPr lang="en-US" dirty="0">
                <a:solidFill>
                  <a:srgbClr val="FFFFFF"/>
                </a:solidFill>
              </a:rPr>
              <a:t>Numbers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82106-F26B-451E-9831-3787418AEC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8" r="50134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67261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FE5573-A799-FC88-B0E6-DB88A7EBC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POS Patterns by Category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396BF-FDC5-98A7-D4C1-A451408FF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Insert Visual:</a:t>
            </a:r>
            <a:r>
              <a:rPr lang="en-US" dirty="0"/>
              <a:t> Heatmap of POS proportions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Key Findings</a:t>
            </a:r>
            <a:endParaRPr lang="en-US" dirty="0"/>
          </a:p>
          <a:p>
            <a:r>
              <a:rPr lang="en-US" dirty="0"/>
              <a:t>Proper nouns dominate</a:t>
            </a:r>
          </a:p>
          <a:p>
            <a:r>
              <a:rPr lang="en-US" dirty="0"/>
              <a:t>Sports uses more action verbs</a:t>
            </a:r>
          </a:p>
          <a:p>
            <a:r>
              <a:rPr lang="en-US" dirty="0"/>
              <a:t>Technology uses more adjectives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954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5A245-2C95-9E43-ED94-8CAA3C57E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108" y="629266"/>
            <a:ext cx="3307744" cy="16419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Sentiment &amp; Emotion Analysis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C5C2A6DF-A7B4-BE13-D957-4E30B19D59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79" r="11095"/>
          <a:stretch>
            <a:fillRect/>
          </a:stretch>
        </p:blipFill>
        <p:spPr>
          <a:xfrm>
            <a:off x="-2" y="10"/>
            <a:ext cx="6094407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1A29D-1958-3093-EBEC-221B565DE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2108" y="2438400"/>
            <a:ext cx="3307744" cy="3809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System Capabilities</a:t>
            </a:r>
            <a:endParaRPr lang="en-US" dirty="0"/>
          </a:p>
          <a:p>
            <a:r>
              <a:rPr lang="en-US" dirty="0"/>
              <a:t>VADER sentiment scoring</a:t>
            </a:r>
          </a:p>
          <a:p>
            <a:r>
              <a:rPr lang="en-US" dirty="0"/>
              <a:t>Emotion lexicon integration</a:t>
            </a:r>
          </a:p>
          <a:p>
            <a:r>
              <a:rPr lang="en-US" dirty="0"/>
              <a:t>Tone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846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2F260-27C9-8DF3-9B70-487E265EE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Business Intelligence Insights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2728F-8437-B07A-54D6-DB360DF2F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Insights Enabled</a:t>
            </a:r>
            <a:endParaRPr lang="en-US" dirty="0"/>
          </a:p>
          <a:p>
            <a:r>
              <a:rPr lang="en-US" dirty="0"/>
              <a:t>Trending topics</a:t>
            </a:r>
          </a:p>
          <a:p>
            <a:r>
              <a:rPr lang="en-US" dirty="0"/>
              <a:t>Sentiment toward companies</a:t>
            </a:r>
          </a:p>
          <a:p>
            <a:r>
              <a:rPr lang="en-US" dirty="0"/>
              <a:t>Keyword importance</a:t>
            </a:r>
          </a:p>
          <a:p>
            <a:r>
              <a:rPr lang="en-US" dirty="0"/>
              <a:t>Entity extraction</a:t>
            </a:r>
          </a:p>
          <a:p>
            <a:r>
              <a:rPr lang="en-US" dirty="0"/>
              <a:t>Writing style differences</a:t>
            </a:r>
          </a:p>
          <a:p>
            <a:endParaRPr lang="en-US" dirty="0"/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09A23E5C-9242-2591-01DC-528846B29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6720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32781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EA610-63FF-A3BE-2D1A-B8D3BFF05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63169-08C5-AAAE-A918-4373C9619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Key Takeaways</a:t>
            </a:r>
            <a:endParaRPr lang="en-US" dirty="0"/>
          </a:p>
          <a:p>
            <a:r>
              <a:rPr lang="en-US" dirty="0"/>
              <a:t>Built a complete NLP workflow</a:t>
            </a:r>
          </a:p>
          <a:p>
            <a:r>
              <a:rPr lang="en-US" dirty="0"/>
              <a:t>Preprocessing → TF‑IDF → POS → Sentiment → Insights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Future Enhancements</a:t>
            </a:r>
            <a:endParaRPr lang="en-US" dirty="0"/>
          </a:p>
          <a:p>
            <a:r>
              <a:rPr lang="en-US" dirty="0"/>
              <a:t>Larger dataset</a:t>
            </a:r>
          </a:p>
          <a:p>
            <a:r>
              <a:rPr lang="en-US" dirty="0"/>
              <a:t>Deep learning models (BERT)</a:t>
            </a:r>
          </a:p>
          <a:p>
            <a:r>
              <a:rPr lang="en-US" dirty="0"/>
              <a:t>Topic modeling</a:t>
            </a:r>
          </a:p>
          <a:p>
            <a:r>
              <a:rPr lang="en-US" dirty="0"/>
              <a:t>Real‑time ingestion</a:t>
            </a:r>
          </a:p>
          <a:p>
            <a:r>
              <a:rPr lang="en-US" dirty="0"/>
              <a:t>Dashboard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2058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</TotalTime>
  <Words>481</Words>
  <Application>Microsoft Office PowerPoint</Application>
  <PresentationFormat>Widescreen</PresentationFormat>
  <Paragraphs>126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Century Gothic</vt:lpstr>
      <vt:lpstr>Wingdings 3</vt:lpstr>
      <vt:lpstr>Ion</vt:lpstr>
      <vt:lpstr>NewsBot Intelligence System</vt:lpstr>
      <vt:lpstr>Project Overview</vt:lpstr>
      <vt:lpstr>Real‑World Applications</vt:lpstr>
      <vt:lpstr>Dataset Overview</vt:lpstr>
      <vt:lpstr>Category Distribution</vt:lpstr>
      <vt:lpstr>Text Preprocessing Pipeline </vt:lpstr>
      <vt:lpstr>Before &amp; After Example </vt:lpstr>
      <vt:lpstr>TF‑IDF Feature Extraction</vt:lpstr>
      <vt:lpstr>Top TF‑IDF Terms by Category</vt:lpstr>
      <vt:lpstr>TF‑IDF Visuals </vt:lpstr>
      <vt:lpstr>POS Tagging &amp; Grammar Analysis</vt:lpstr>
      <vt:lpstr>POS Patterns by Category</vt:lpstr>
      <vt:lpstr>Sentiment &amp; Emotion Analysis</vt:lpstr>
      <vt:lpstr>Business Intelligence Insights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lufei.yu-W212048690</dc:creator>
  <cp:lastModifiedBy>lufei.yu-W212048690</cp:lastModifiedBy>
  <cp:revision>1</cp:revision>
  <dcterms:created xsi:type="dcterms:W3CDTF">2026-04-10T03:20:37Z</dcterms:created>
  <dcterms:modified xsi:type="dcterms:W3CDTF">2026-04-10T03:38:24Z</dcterms:modified>
</cp:coreProperties>
</file>